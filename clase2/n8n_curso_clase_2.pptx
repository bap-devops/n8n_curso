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hA4oykHkA7JyBX5UAOAtZ0u6kI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28b1c05fc_0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d28b1c05f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d28b1c05f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721fdb65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9721fdb65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9721fdb65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98250" y="3886200"/>
            <a:ext cx="7547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s-ES" sz="3400"/>
              <a:t>Clase 2</a:t>
            </a:r>
            <a:endParaRPr sz="3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</a:pPr>
            <a:r>
              <a:rPr b="1" lang="es-ES" sz="3000">
                <a:solidFill>
                  <a:srgbClr val="434343"/>
                </a:solidFill>
              </a:rPr>
              <a:t>Integraciones externas, LLM y RAG</a:t>
            </a:r>
            <a:endParaRPr b="1" sz="3000">
              <a:solidFill>
                <a:srgbClr val="434343"/>
              </a:solidFill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69" y="6456231"/>
            <a:ext cx="9145498" cy="401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0400" y="5547600"/>
            <a:ext cx="692795" cy="923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132" y="672352"/>
            <a:ext cx="7547735" cy="28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457200" y="274647"/>
            <a:ext cx="8229600" cy="891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ts val="4400"/>
              <a:buFont typeface="Arial"/>
              <a:buNone/>
            </a:pPr>
            <a:r>
              <a:rPr lang="es-ES">
                <a:solidFill>
                  <a:schemeClr val="lt1"/>
                </a:solidFill>
              </a:rPr>
              <a:t>Uso de servicios externos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HTTP Request (base de integración): traer datos, enviar info, integrar sistemas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Credenciales en n8n - tipos comunes: API Key, Bearer Token, OAuth2 (se configuran 1 sola vez, se guardan cifradas)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Nodos </a:t>
            </a:r>
            <a:r>
              <a:rPr lang="es-ES" sz="2400">
                <a:solidFill>
                  <a:srgbClr val="000000"/>
                </a:solidFill>
              </a:rPr>
              <a:t>más</a:t>
            </a:r>
            <a:r>
              <a:rPr lang="es-ES" sz="2400">
                <a:solidFill>
                  <a:srgbClr val="000000"/>
                </a:solidFill>
              </a:rPr>
              <a:t> comunes de integraci</a:t>
            </a:r>
            <a:r>
              <a:rPr lang="es-ES" sz="2400">
                <a:solidFill>
                  <a:srgbClr val="000000"/>
                </a:solidFill>
              </a:rPr>
              <a:t>ón: bbdd, archivos, ftp, email, webhooks, plataformas y proveedores.</a:t>
            </a:r>
            <a:endParaRPr sz="2400">
              <a:solidFill>
                <a:srgbClr val="000000"/>
              </a:solidFill>
            </a:endParaRPr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Nodos de IA: Chat / Generación de texto, Clasificación de texto, Análisis de sentimiento, Resumen de contenido, Extracción de información (structured output), Generación de embeddings.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5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457200" y="274650"/>
            <a:ext cx="8229600" cy="878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ts val="4400"/>
              <a:buFont typeface="Arial"/>
              <a:buNone/>
            </a:pPr>
            <a:r>
              <a:rPr lang="es-ES">
                <a:solidFill>
                  <a:schemeClr val="lt1"/>
                </a:solidFill>
              </a:rPr>
              <a:t>Introducción a LLM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i="0" lang="es-ES" sz="2400" u="none">
                <a:solidFill>
                  <a:srgbClr val="000000"/>
                </a:solidFill>
              </a:rPr>
              <a:t>Qu</a:t>
            </a:r>
            <a:r>
              <a:rPr lang="es-ES" sz="2400">
                <a:solidFill>
                  <a:srgbClr val="000000"/>
                </a:solidFill>
              </a:rPr>
              <a:t>e es un LLM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Ventana de contexto, tipos de mensaje, modos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s-ES" sz="2400">
                <a:solidFill>
                  <a:srgbClr val="000000"/>
                </a:solidFill>
              </a:rPr>
              <a:t>Se integran vía HTTP Request o nodos de AI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Proveedores externos, modelos locales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Tokens de entrada, salida y cacheados. Costos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s-ES" sz="2400">
                <a:solidFill>
                  <a:srgbClr val="000000"/>
                </a:solidFill>
              </a:rPr>
              <a:t>Casos comunes: clasificar, resumir, extraer datos</a:t>
            </a:r>
            <a:endParaRPr i="0" sz="2400" u="none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s-ES" sz="2400">
                <a:solidFill>
                  <a:srgbClr val="000000"/>
                </a:solidFill>
              </a:rPr>
              <a:t>Importante: controlar formato de salida</a:t>
            </a:r>
            <a:endParaRPr sz="10000"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3"/>
            <a:ext cx="9063135" cy="365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47"/>
            <a:ext cx="8229600" cy="878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ts val="4400"/>
              <a:buFont typeface="Arial"/>
              <a:buNone/>
            </a:pPr>
            <a:r>
              <a:rPr lang="es-ES">
                <a:solidFill>
                  <a:schemeClr val="lt1"/>
                </a:solidFill>
              </a:rPr>
              <a:t>Prompts para Automatización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892475"/>
            <a:ext cx="82296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Definir rol del modelo (ej: “sos un clasificador”, “sos un analista”)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Dar instrucciones claras y específicas (qué hacer y qué no)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Especificar formato de salida (JSON, lista, texto corto)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Incluir ejemplos si la tarea es compleja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Usar variables dinámicas para contexto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Limitar ambigüedad (lenguaje simple, evitar múltiples interpretaciones)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5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28b1c05fc_0_14"/>
          <p:cNvSpPr txBox="1"/>
          <p:nvPr>
            <p:ph type="title"/>
          </p:nvPr>
        </p:nvSpPr>
        <p:spPr>
          <a:xfrm>
            <a:off x="457200" y="274651"/>
            <a:ext cx="8229600" cy="10971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ct val="100000"/>
              <a:buFont typeface="Arial"/>
              <a:buNone/>
            </a:pPr>
            <a:r>
              <a:rPr lang="es-ES">
                <a:solidFill>
                  <a:schemeClr val="lt1"/>
                </a:solidFill>
              </a:rPr>
              <a:t>WF Programáticos (con flujo predefinido)</a:t>
            </a:r>
            <a:endParaRPr/>
          </a:p>
        </p:txBody>
      </p:sp>
      <p:sp>
        <p:nvSpPr>
          <p:cNvPr id="119" name="Google Shape;119;g3d28b1c05fc_0_14"/>
          <p:cNvSpPr txBox="1"/>
          <p:nvPr>
            <p:ph idx="1" type="body"/>
          </p:nvPr>
        </p:nvSpPr>
        <p:spPr>
          <a:xfrm>
            <a:off x="457200" y="1892475"/>
            <a:ext cx="82296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Flujo definido por lógica (no decide la IA, solo ejecuta tareas)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Uso de uno o más LLMs en pasos específicos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Control total del proceso (IF, Switch, Set, Merge, etc.)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La IA cumple roles puntuales (clasificar, resumir, extraer)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Resultados más predecibles y controlables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Ej: Webhook → LLM (clasificar) → IF → Database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20" name="Google Shape;120;g3d28b1c05fc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4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21fdb657_0_0"/>
          <p:cNvSpPr txBox="1"/>
          <p:nvPr>
            <p:ph type="title"/>
          </p:nvPr>
        </p:nvSpPr>
        <p:spPr>
          <a:xfrm>
            <a:off x="457200" y="274650"/>
            <a:ext cx="8229600" cy="1185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ct val="100000"/>
              <a:buFont typeface="Arial"/>
              <a:buNone/>
            </a:pPr>
            <a:r>
              <a:rPr lang="es-ES">
                <a:solidFill>
                  <a:schemeClr val="lt1"/>
                </a:solidFill>
              </a:rPr>
              <a:t>Introducción a RAG (Retrieval-Augmented Generation)</a:t>
            </a:r>
            <a:endParaRPr/>
          </a:p>
        </p:txBody>
      </p:sp>
      <p:sp>
        <p:nvSpPr>
          <p:cNvPr id="127" name="Google Shape;127;g39721fdb657_0_0"/>
          <p:cNvSpPr txBox="1"/>
          <p:nvPr>
            <p:ph idx="1" type="body"/>
          </p:nvPr>
        </p:nvSpPr>
        <p:spPr>
          <a:xfrm>
            <a:off x="457200" y="2146300"/>
            <a:ext cx="8229600" cy="3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Combina generación (LLM) con recuperación de datos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Evita depender solo del conocimiento del modelo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Busca información relevante para inyectar contexto dinamico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Búsqueda en bd vectoriales, por keywords, bd SQL/noSQL, APIs externas, bd de grafos o </a:t>
            </a:r>
            <a:r>
              <a:rPr lang="es-ES" sz="2400">
                <a:solidFill>
                  <a:srgbClr val="000000"/>
                </a:solidFill>
              </a:rPr>
              <a:t>híbridos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Mejora precisión y reduce alucinaciones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28" name="Google Shape;128;g39721fdb65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4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