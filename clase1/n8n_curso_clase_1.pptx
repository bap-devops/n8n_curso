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mJ3M1Sec6GPYMvxCuUPHPsJuJ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98250" y="3886200"/>
            <a:ext cx="7547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s-ES" sz="3400"/>
              <a:t>Clase 1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None/>
            </a:pPr>
            <a:r>
              <a:rPr b="1" lang="es-ES" sz="3000">
                <a:solidFill>
                  <a:srgbClr val="434343"/>
                </a:solidFill>
              </a:rPr>
              <a:t>Fundamentos de n8n y Manipulación de Datos</a:t>
            </a:r>
            <a:endParaRPr b="1" sz="3000">
              <a:solidFill>
                <a:srgbClr val="434343"/>
              </a:solidFill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69" y="6456231"/>
            <a:ext cx="9145498" cy="40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0400" y="5547600"/>
            <a:ext cx="692795" cy="923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132" y="672352"/>
            <a:ext cx="7547735" cy="28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50"/>
            <a:ext cx="8229600" cy="878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i="0" lang="es-ES" u="none" cap="none" strike="noStrike">
                <a:solidFill>
                  <a:schemeClr val="lt1"/>
                </a:solidFill>
              </a:rPr>
              <a:t>Introducción a la Automatización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i="0" lang="es-ES" sz="2400" u="none">
                <a:solidFill>
                  <a:srgbClr val="000000"/>
                </a:solidFill>
              </a:rPr>
              <a:t>Qué es automatizar: tareas repetitivas, integración entre sistemas</a:t>
            </a:r>
            <a:endParaRPr sz="10000"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i="0" lang="es-ES" sz="2400" u="none">
                <a:solidFill>
                  <a:srgbClr val="000000"/>
                </a:solidFill>
              </a:rPr>
              <a:t>Diferencia entre automatización tradicional(cron) vs moderna (event-driven)</a:t>
            </a:r>
            <a:endParaRPr sz="10000"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i="0" lang="es-ES" sz="2400" u="none">
                <a:solidFill>
                  <a:srgbClr val="000000"/>
                </a:solidFill>
              </a:rPr>
              <a:t>Ahorro de tiempo: tareas manuales pasan a ser automáticas</a:t>
            </a:r>
            <a:endParaRPr i="0" sz="2400" u="none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i="0" lang="es-ES" sz="2400" u="none">
                <a:solidFill>
                  <a:srgbClr val="000000"/>
                </a:solidFill>
              </a:rPr>
              <a:t>Menos errores: se elimina intervención humana repetitiva</a:t>
            </a:r>
            <a:endParaRPr sz="10000"/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3"/>
            <a:ext cx="9063135" cy="365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47"/>
            <a:ext cx="8229600" cy="891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ct val="1000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Arquitectura y Funcionamiento de n8n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Workflows como grafos (nodos + conexiones)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Ejecución por triggers, cron o manual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Flujo de datos: items (array de json)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Persistencia: ejecuciones, logs, DB interna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Low-code vs código puro (ventajas y límites)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s-ES" sz="2400">
                <a:solidFill>
                  <a:srgbClr val="000000"/>
                </a:solidFill>
              </a:rPr>
              <a:t>Escalabilidad básica: colas (modo queue)</a:t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47"/>
            <a:ext cx="8229600" cy="878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lang="es-ES">
                <a:solidFill>
                  <a:schemeClr val="lt1"/>
                </a:solidFill>
              </a:rPr>
              <a:t>Self-Hosted o Cloud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892475"/>
            <a:ext cx="8229600" cy="4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Self-hosted: control total, Docker, costos bajos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Cloud: rápido setup, mantenimiento cero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Escalabilidad: cloud más simple vs self más flexible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Costos: self costo fijo vs cloud puede variar según uso.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Casos típicos: empresa (self) vs prototipo (cloud)</a:t>
            </a:r>
            <a:endParaRPr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57200" y="274647"/>
            <a:ext cx="8229600" cy="840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</a:t>
            </a:r>
            <a:r>
              <a:rPr b="0" i="0" lang="es-E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Nodos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879924"/>
            <a:ext cx="8229600" cy="4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Trigger (inicio del flujo): Webhook, Cron, Manual Trigger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Action (ejecución de acciones): HTTP Request, Database, emails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0000"/>
                </a:solidFill>
              </a:rPr>
              <a:t>Transformación (modifica datos): Set, Code, Summarize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Control de flujo (decisiones y manejo de datos): IF, Switch, Loop Over Items</a:t>
            </a:r>
            <a:endParaRPr b="0" sz="13500"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457200" y="274646"/>
            <a:ext cx="8229600" cy="7656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ts val="44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Manipulación de Datos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" y="1566600"/>
            <a:ext cx="82296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Estructura base: items[] JSON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Acceso a datos y Expresiones dinámicas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Transformaciones de datos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Iteración implícita (se procesa cada item uno por vez)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Ejemplos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75BC"/>
              </a:buClr>
              <a:buSzPct val="110000"/>
              <a:buFont typeface="Arial"/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Diseño de Flujos Sólidos y Buenas Prácticas Iniciales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57200" y="1980199"/>
            <a:ext cx="8229600" cy="41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Separar lógica en nodos claros (legibilidad)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Manejo de errores (Try/Catch, nodos de fallback)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Logging de ejecuciones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Evitar lógica compleja en un solo nodo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Reutilización: sub-workflows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s-ES" sz="2400">
                <a:solidFill>
                  <a:srgbClr val="000000"/>
                </a:solidFill>
              </a:rPr>
              <a:t>Idempotencia y control de duplicados</a:t>
            </a:r>
            <a:endParaRPr/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67542"/>
            <a:ext cx="9063135" cy="36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